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73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43"/>
    <p:restoredTop sz="94610"/>
  </p:normalViewPr>
  <p:slideViewPr>
    <p:cSldViewPr snapToGrid="0" snapToObjects="1">
      <p:cViewPr>
        <p:scale>
          <a:sx n="116" d="100"/>
          <a:sy n="116" d="100"/>
        </p:scale>
        <p:origin x="1392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131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7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0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15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2377440"/>
            <a:ext cx="0" cy="1691640"/>
          </a:xfrm>
          <a:prstGeom prst="line">
            <a:avLst/>
          </a:prstGeom>
          <a:noFill/>
          <a:ln w="25400">
            <a:solidFill>
              <a:srgbClr val="23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2377440"/>
            <a:ext cx="0" cy="1691640"/>
          </a:xfrm>
          <a:prstGeom prst="line">
            <a:avLst/>
          </a:prstGeom>
          <a:noFill/>
          <a:ln w="25400">
            <a:solidFill>
              <a:srgbClr val="23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92640" y="2377440"/>
            <a:ext cx="1234440" cy="1691640"/>
          </a:xfrm>
          <a:prstGeom prst="line">
            <a:avLst/>
          </a:prstGeom>
          <a:noFill/>
          <a:ln w="25400">
            <a:solidFill>
              <a:srgbClr val="23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9400032" y="3776472"/>
            <a:ext cx="585216" cy="585216"/>
          </a:xfrm>
          <a:prstGeom prst="ellipse">
            <a:avLst/>
          </a:prstGeom>
          <a:solidFill>
            <a:srgbClr val="CFE8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3922776"/>
            <a:ext cx="292608" cy="29260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0634472" y="3776472"/>
            <a:ext cx="585216" cy="585216"/>
          </a:xfrm>
          <a:prstGeom prst="ellipse">
            <a:avLst/>
          </a:prstGeom>
          <a:solidFill>
            <a:srgbClr val="CFE8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776" y="3922776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1520" y="1965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 Store Distribuito</a:t>
            </a:r>
            <a:endParaRPr lang="en-US" sz="4600" dirty="0"/>
          </a:p>
        </p:txBody>
      </p:sp>
      <p:sp>
        <p:nvSpPr>
          <p:cNvPr id="14" name="Text 8"/>
          <p:cNvSpPr/>
          <p:nvPr/>
        </p:nvSpPr>
        <p:spPr>
          <a:xfrm>
            <a:off x="731520" y="26974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Router, Idempotenza e Rebalancing</a:t>
            </a:r>
            <a:endParaRPr lang="en-US" sz="2600" dirty="0"/>
          </a:p>
        </p:txBody>
      </p:sp>
      <p:sp>
        <p:nvSpPr>
          <p:cNvPr id="15" name="Text 9"/>
          <p:cNvSpPr/>
          <p:nvPr/>
        </p:nvSpPr>
        <p:spPr>
          <a:xfrm>
            <a:off x="731520" y="3520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idempotenti con request_id per operazioni mutative sicure, in un sistema a shard multipli con migrazione a caldo dei dati.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3 — Protocolli Concorrenti e Sistemi Distribuiti</a:t>
            </a:r>
            <a:endParaRPr lang="en-US" sz="1200" dirty="0"/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770C7C8C-0925-3C27-C74C-28E17702ABF6}"/>
              </a:ext>
            </a:extLst>
          </p:cNvPr>
          <p:cNvSpPr/>
          <p:nvPr/>
        </p:nvSpPr>
        <p:spPr>
          <a:xfrm flipH="1">
            <a:off x="8458199" y="2377440"/>
            <a:ext cx="1234429" cy="1691640"/>
          </a:xfrm>
          <a:prstGeom prst="line">
            <a:avLst/>
          </a:prstGeom>
          <a:noFill/>
          <a:ln w="25400">
            <a:solidFill>
              <a:srgbClr val="234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0" y="201168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19456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65592" y="3776472"/>
            <a:ext cx="585216" cy="585216"/>
          </a:xfrm>
          <a:prstGeom prst="ellipse">
            <a:avLst/>
          </a:prstGeom>
          <a:solidFill>
            <a:srgbClr val="CFE8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3922776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Traccia: Retry Sicuri con request_id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Obiettivo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719072"/>
            <a:ext cx="5806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 sicuri i retry delle operazioni mutative: un client può perdere la risposta di una scrittura (timeout, disconnessione) senza sapere se il server l'abbia già applicata. Un retry alla cieca rischia di produrre due volte lo stesso effetto.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3200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Requisiti minimi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3547872"/>
            <a:ext cx="5852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deve ricordare l'esito delle richieste già viste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Ripetere lo stesso request_id restituisce la stessa risposta, senza riapplicare l'effetto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contratto deve dire quando un request_id può essere dimenticato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test devono simulare almeno un retry dopo timeout del client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20840" y="1371600"/>
            <a:ext cx="4983480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/>
          <a:effectLst>
            <a:outerShdw blurRad="88900" dist="38100" dir="27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949440" y="1481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proposta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49440" y="1810512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SET_REQ clientA:42 key value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CAS_REQ clientA:43 key 7 value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1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DELETE_REQ clientA:44 key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720840" y="3310128"/>
            <a:ext cx="4983480" cy="1417320"/>
          </a:xfrm>
          <a:prstGeom prst="roundRect">
            <a:avLst>
              <a:gd name="adj" fmla="val 5161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922008" y="3511296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736" y="3621024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3800" y="345643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rischio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7543800" y="3785616"/>
            <a:ext cx="39776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Ritentare alla cieca una scrittura può causare un doppio effetto applicativo: la stessa operazione viene eseguita due volte sullo stato del sistema.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720840" y="484632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6922008" y="504748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736" y="5157216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543800" y="499262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request_id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543800" y="5321808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&lt;client_id&gt;:&lt;seq&gt; — identifica univocamente una singola operazione mutativa emessa da un client specifico.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centrale: idempotenza dei retry in presenza di guasti di rete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Soluzione Proposta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353312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Router funge da gateway unico: assorbe i retry tramite una request table per client e instrada le richieste inedite verso lo ShardNode corretto, mascherando al client la complessità della topologia distribuita.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02920" y="22860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04088" y="248716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59689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4323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25880" y="2761488"/>
            <a:ext cx="16459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idempotente: request_table[client_id][seq] + client_lock per l'atomicità del retry.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383280" y="22860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584448" y="248716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259689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06240" y="24323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206240" y="2761488"/>
            <a:ext cx="16459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 di migrazione: sposta i dati a caldo tra shard con una Two-Phase Commit.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63640" y="22860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64808" y="248716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259689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24323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ShardNode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086600" y="2761488"/>
            <a:ext cx="16459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"stupido" in RAM: accetta scritture solo se la versione è più recente.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144000" y="228600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9345168" y="2487168"/>
            <a:ext cx="457200" cy="457200"/>
          </a:xfrm>
          <a:prstGeom prst="ellipse">
            <a:avLst/>
          </a:prstGeom>
          <a:solidFill>
            <a:srgbClr val="6C4FA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4896" y="259689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966960" y="24323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Window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966960" y="2761488"/>
            <a:ext cx="164592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collection O(1): conserva le ultime N richieste per client con eviction_boundary.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02920" y="43434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704088" y="454456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4654296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25880" y="448970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Estensione distribuita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1325880" y="4818888"/>
            <a:ext cx="443484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Rispetto a un KV store a nodo singolo, il Router aggiunge: calcolo dello shard responsabile, Sequence Number globale, fallback in lettura durante il rebalance e blocco delle CAS durante la migrazione.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217920" y="4343400"/>
            <a:ext cx="54864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6419088" y="454456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8816" y="4654296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040880" y="448970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Tombstone logici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7040880" y="4818888"/>
            <a:ext cx="44805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DELETE_REQ non cancella fisicamente la chiave: scrive un valore sentinella &lt;TOMBSTONE&gt; con nuova versione, per evitare la resurrezione di dati durante il fallback di lettura.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logica di idempotenza dell'Homework 3, estesa a un sistema a shard multipli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Contratto — Trasporto e Modello Dati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3533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Trasporto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69164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Protocollo testuale su TCP, encoding UTF-8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richiesta per riga, una risposta per riga (terminate da \n)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connessione è gestita da un thread dedicato sul Router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3017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Modello dati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" y="3355848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Chiavi: stringhe senza spazi — Valori: UTF-8 senza newline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 globale strettamente crescente, parte da 0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Chiave assente → versione implicita -1 → ERR_NOT_FOUND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0" y="1353312"/>
            <a:ext cx="528523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601968" y="1554480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166420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499616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Tombstone (DELETE_REQ)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223760" y="1828800"/>
            <a:ext cx="427939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differenza di un sistema a nodo singolo, DELETE_REQ esegue una "cancellazione logica": sovrascrive la chiave con il valore sentinella &lt;TOMBSTONE&gt; e una nuova versione. Questo evita la resurrezione di dati cancellati durante un fallback di lettura nel mezzo di un rebalancing.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0" y="3520440"/>
            <a:ext cx="5285232" cy="1737360"/>
          </a:xfrm>
          <a:prstGeom prst="roundRect">
            <a:avLst>
              <a:gd name="adj" fmla="val 4211"/>
            </a:avLst>
          </a:prstGeom>
          <a:solidFill>
            <a:srgbClr val="0B1F3A"/>
          </a:solidFill>
          <a:ln/>
          <a:effectLst>
            <a:outerShdw blurRad="88900" dist="38100" dir="2700000" algn="bl" rotWithShape="0">
              <a:srgbClr val="1B2A3A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629400" y="3639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del request_id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629400" y="3950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&lt;client_id&gt;:&lt;seq&gt;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629400" y="44348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client_id: stringa senza spazi né due punti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seq: intero non negativo, strettamente crescente per client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contratto estende il KV store versionato con topologia a shard multipli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Contratto — Request Table ed Esecuzione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3258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Cosa memorizza il Router per (client_id, seq)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payload canonico della richiesta (comando in maiuscolo, valore preservato esattamente)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risposta calcolata, compresi gli esiti applicativi (es. ERR_CAS_CONFLICT, ERR_NOT_FOUND)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1089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04088" y="331012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41985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25526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Eccezione: ERR_REBALANCING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25880" y="3584448"/>
            <a:ext cx="43891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viene mai salvato in tabella: è un esito transitorio. Un retry a rebalance concluso deve poter avere successo (liveness).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44805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Garbage collection: sliding window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02920" y="4828032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più N voci recenti per client_id (default N = 100)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eviction_boundary[client] = max(boundary, seq_evictato)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≤ eviction_boundary → ERR_REQUEST_ID_EXPIRED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263640" y="1325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Sequenza di esecuzione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263640" y="1737360"/>
            <a:ext cx="329184" cy="329184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263640" y="1737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720840" y="16642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Acquisisce il client_lock del client_id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263640" y="2514600"/>
            <a:ext cx="329184" cy="329184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26364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720840" y="244144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Trovato in tabella con payload identico? → replay della risposta salvata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263640" y="3291840"/>
            <a:ext cx="329184" cy="329184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626364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720840" y="321868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≤ eviction_boundary? → ERR_REQUEST_ID_EXPIRED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263640" y="4069080"/>
            <a:ext cx="329184" cy="329184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626364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720840" y="39959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Fotografa la topologia; CAS durante rebalance → ERR_REBALANCING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263640" y="4846320"/>
            <a:ext cx="329184" cy="329184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263640" y="4846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720840" y="47731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la nuova versione globale ed esegue l'I/O verso lo ShardNode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263640" y="5623560"/>
            <a:ext cx="329184" cy="329184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/>
          <p:nvPr/>
        </p:nvSpPr>
        <p:spPr>
          <a:xfrm>
            <a:off x="6263640" y="5623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720840" y="55504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(payload, risposta) e rilascia il client_lock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parsing sintattico avviene fuori dai lock; gli errori di formato non vengono salvati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Interfaccia del Protocollo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510235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Comando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Sintassi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Risposte principali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SET_REQ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SET_REQ &lt;req_id&gt; &lt;key&gt; &lt;value...&gt;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OK version=&lt;n&gt;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CAS_REQ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CAS_REQ &lt;req_id&gt; &lt;key&gt; &lt;exp_ver&gt; &lt;value...&gt;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OK version=&lt;n&gt; · ERR_CAS_CONFLICT · ERR_NOT_FOUND · ERR_REBALANCING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DELETE_REQ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DELETE_REQ &lt;req_id&gt; &lt;key&gt;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OK (tombstone) · ERR_NOT_FOUND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GET / GETV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GET &lt;key&gt;  ·  GETV &lt;key&gt;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&lt;value&gt; &lt;version&gt; / &lt;version&gt; · ERR_NOT_FOUND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KEYS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KEYS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OK &lt;k1&gt; &lt;k2&gt; ... (tombstone esclusi)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STATS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STATS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OK shards=.. rebalancing=.. clients=.. cached_requests=..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ADD/REMOVE_SHARD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ADD_SHARD &lt;id&gt; &lt;host:port&gt;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OK · ERR shard_already_present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REBALANCE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REBALANCE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</a:rPr>
                        <a:t>OK rebalance_scheduled · ERR nothing_to_rebalance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operazioni di lettura non richiedono request_id; i comandi mutativi lo richiedono sempre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Proprietà di Safety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“Non accade mai qualcosa di scorretto” — effetti doppi, dati persi o resuscitati, risposte incoerenti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1737360"/>
            <a:ext cx="3685032" cy="1444752"/>
          </a:xfrm>
          <a:prstGeom prst="roundRect">
            <a:avLst>
              <a:gd name="adj" fmla="val 506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04088" y="193852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04825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1883664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· Nessun doppio effetto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25880" y="2212848"/>
            <a:ext cx="26791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client_lock serializza lookup in cache e chiamata di rete: al più una esecuzione per (client_id, seq).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52544" y="1737360"/>
            <a:ext cx="3685032" cy="1444752"/>
          </a:xfrm>
          <a:prstGeom prst="roundRect">
            <a:avLst>
              <a:gd name="adj" fmla="val 506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553712" y="193852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04825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75504" y="1883664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 · Replay coerente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175504" y="2212848"/>
            <a:ext cx="26791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retry riceve sempre la stessa risposta della prima esecuzione, salvo l'eccezione transitoria ERR_REBALANCING.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202168" y="1737360"/>
            <a:ext cx="3685032" cy="1444752"/>
          </a:xfrm>
          <a:prstGeom prst="roundRect">
            <a:avLst>
              <a:gd name="adj" fmla="val 506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403336" y="193852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204825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25128" y="1883664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· Richieste non confuse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025128" y="2212848"/>
            <a:ext cx="26791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L'indice della cache è la tupla (client_id, seq): client o seq diversi restano indipendenti.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2920" y="3328416"/>
            <a:ext cx="3685032" cy="1444752"/>
          </a:xfrm>
          <a:prstGeom prst="roundRect">
            <a:avLst>
              <a:gd name="adj" fmla="val 506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04088" y="3529584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3639312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5880" y="347472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 · Conflitto di payload rilevato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325880" y="3803904"/>
            <a:ext cx="26791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request_id, payload diverso → ERR_REQUEST_ID_CONFLICT, senza toccare gli ShardNode.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352544" y="3328416"/>
            <a:ext cx="3685032" cy="1444752"/>
          </a:xfrm>
          <a:prstGeom prst="roundRect">
            <a:avLst>
              <a:gd name="adj" fmla="val 506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553712" y="3529584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639312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75504" y="347472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 · Retry fuori finestra rifiutato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5175504" y="3803904"/>
            <a:ext cx="26791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≤ eviction_boundary → ERR_REQUEST_ID_EXPIRED, mai una riesecuzione.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8202168" y="3328416"/>
            <a:ext cx="3685032" cy="1444752"/>
          </a:xfrm>
          <a:prstGeom prst="roundRect">
            <a:avLst>
              <a:gd name="adj" fmla="val 506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8403336" y="3529584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3064" y="3639312"/>
            <a:ext cx="237744" cy="237744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025128" y="347472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S6 · Nessun dato zombie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9025128" y="3803904"/>
            <a:ext cx="26791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Tombstone sulla topologia nuova blocca il fallback di lettura: l'assenza resta autoritativa.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502920" y="4919472"/>
            <a:ext cx="3685032" cy="1444752"/>
          </a:xfrm>
          <a:prstGeom prst="roundRect">
            <a:avLst>
              <a:gd name="adj" fmla="val 506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704088" y="5120640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" y="5230368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325880" y="5065776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S7 · Migrazione sicura (2PC)</a:t>
            </a:r>
            <a:endParaRPr lang="en-US" sz="1500" dirty="0"/>
          </a:p>
        </p:txBody>
      </p:sp>
      <p:sp>
        <p:nvSpPr>
          <p:cNvPr id="42" name="Text 32"/>
          <p:cNvSpPr/>
          <p:nvPr/>
        </p:nvSpPr>
        <p:spPr>
          <a:xfrm>
            <a:off x="1325880" y="5394960"/>
            <a:ext cx="26791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(copia) → Commit (switch topologia) → Cleanup: nessun dato perso se il Coordinator si guasta.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Proprietà di Liveness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“Il sistema fa progresso” — un client corretto deve poter completare le proprie operazioni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17830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04088" y="198424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09397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19293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 · Memoria del gateway limitata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325880" y="2258568"/>
            <a:ext cx="4480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request table conserva al più N voci per client (sliding window). L'eviction è O(1) e inline: nessun client può esaurire la RAM del Router.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178308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19088" y="198424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09397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19293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· Il rebalancing non blocca per sempre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040880" y="2258568"/>
            <a:ext cx="4480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thread Watchdog pinga il Coordinator durante la migrazione; dopo N fallimenti consecutivi, il Router abortisce il rebalance e sblocca il traffico.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02920" y="39776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04088" y="41788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28853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41239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 · Il client può sempre completare i retry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325880" y="4453128"/>
            <a:ext cx="4480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 riceve la risposta cached, senza side-effect ripetuti, finché non avanza il proprio seq di più di N posizioni senza ricevere l'ACK.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217920" y="39776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6419088" y="41788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428853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40880" y="41239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 · Liveness dei lock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7040880" y="4453128"/>
            <a:ext cx="448056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client_lock isolano le sessioni; version_lock è isolato dall'I/O di rete; key_lock per chiave sugli ShardNode massimizzano il parallelismo.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Implementazione — Componenti del Sistema (NEW)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41732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943100" y="1737360"/>
            <a:ext cx="731520" cy="73152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980" y="1920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2606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2100" b="1">
                <a:solidFill>
                  <a:srgbClr val="1C2D3E"/>
                </a:solidFill>
                <a:latin typeface="Georgia"/>
              </a:defRPr>
            </a:pPr>
            <a:r>
              <a:rPr lang="en-US" sz="2100" b="1" dirty="0">
                <a:solidFill>
                  <a:srgbClr val="1C2D3E"/>
                </a:solidFill>
                <a:latin typeface="Georg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1800" dirty="0"/>
          </a:p>
        </p:txBody>
      </p:sp>
      <p:sp>
        <p:nvSpPr>
          <p:cNvPr id="23" name="Rounded Rectangle 22"/>
          <p:cNvSpPr/>
          <p:nvPr/>
        </p:nvSpPr>
        <p:spPr>
          <a:xfrm>
            <a:off x="667512" y="3063240"/>
            <a:ext cx="3282696" cy="2459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 7"/>
          <p:cNvSpPr/>
          <p:nvPr/>
        </p:nvSpPr>
        <p:spPr>
          <a:xfrm>
            <a:off x="804672" y="3136392"/>
            <a:ext cx="3008376" cy="2441448"/>
          </a:xfrm>
          <a:prstGeom prst="rect">
            <a:avLst/>
          </a:prstGeom>
          <a:noFill/>
          <a:ln>
            <a:noFill/>
          </a:ln>
        </p:spPr>
        <p:txBody>
          <a:bodyPr wrap="square" tIns="73152" rIns="36576" bIns="27432" rtlCol="0" anchor="ctr">
            <a:normAutofit/>
          </a:bodyPr>
          <a:lstStyle/>
          <a:p>
            <a:pPr marL="228600" indent="-152400" algn="l">
              <a:buChar char="•"/>
              <a:defRPr sz="1420">
                <a:solidFill>
                  <a:srgbClr val="182A3A"/>
                </a:solidFill>
                <a:latin typeface="Aptos"/>
              </a:defRPr>
            </a:pPr>
            <a:r>
              <a:rPr dirty="0"/>
              <a:t>Gateway </a:t>
            </a:r>
            <a:r>
              <a:rPr dirty="0" err="1"/>
              <a:t>pubblico</a:t>
            </a:r>
            <a:r>
              <a:rPr dirty="0"/>
              <a:t> per </a:t>
            </a:r>
            <a:r>
              <a:rPr dirty="0" err="1"/>
              <a:t>i</a:t>
            </a:r>
            <a:r>
              <a:rPr dirty="0"/>
              <a:t> client</a:t>
            </a:r>
            <a:r>
              <a:rPr lang="it-IT" dirty="0"/>
              <a:t> </a:t>
            </a:r>
          </a:p>
          <a:p>
            <a:pPr marL="76200" algn="l">
              <a:defRPr sz="1420">
                <a:solidFill>
                  <a:srgbClr val="182A3A"/>
                </a:solidFill>
                <a:latin typeface="Aptos"/>
              </a:defRPr>
            </a:pPr>
            <a:r>
              <a:rPr lang="en-US" sz="800" dirty="0"/>
              <a:t> </a:t>
            </a:r>
            <a:endParaRPr lang="en-US" sz="400" dirty="0"/>
          </a:p>
          <a:p>
            <a:pPr marL="228600" indent="-152400" algn="l">
              <a:buChar char="•"/>
              <a:defRPr sz="1420">
                <a:solidFill>
                  <a:srgbClr val="182A3A"/>
                </a:solidFill>
                <a:latin typeface="Aptos"/>
              </a:defRPr>
            </a:pPr>
            <a:r>
              <a:rPr dirty="0"/>
              <a:t>Request table + </a:t>
            </a:r>
            <a:r>
              <a:rPr dirty="0" err="1"/>
              <a:t>client_lock</a:t>
            </a:r>
            <a:endParaRPr lang="it-IT" dirty="0"/>
          </a:p>
          <a:p>
            <a:pPr marL="76200" algn="l">
              <a:defRPr sz="1420">
                <a:solidFill>
                  <a:srgbClr val="182A3A"/>
                </a:solidFill>
                <a:latin typeface="Aptos"/>
              </a:defRPr>
            </a:pPr>
            <a:r>
              <a:rPr lang="en-US" sz="800" dirty="0"/>
              <a:t> </a:t>
            </a:r>
            <a:endParaRPr dirty="0"/>
          </a:p>
          <a:p>
            <a:pPr marL="228600" indent="-152400" algn="l">
              <a:buChar char="•"/>
              <a:defRPr sz="1420">
                <a:solidFill>
                  <a:srgbClr val="182A3A"/>
                </a:solidFill>
                <a:latin typeface="Aptos"/>
              </a:defRPr>
            </a:pPr>
            <a:r>
              <a:rPr dirty="0" err="1"/>
              <a:t>Versioni</a:t>
            </a:r>
            <a:r>
              <a:rPr dirty="0"/>
              <a:t> </a:t>
            </a:r>
            <a:r>
              <a:rPr dirty="0" err="1"/>
              <a:t>globali</a:t>
            </a:r>
            <a:r>
              <a:rPr dirty="0"/>
              <a:t> (_</a:t>
            </a:r>
            <a:r>
              <a:rPr dirty="0" err="1"/>
              <a:t>version_lock</a:t>
            </a:r>
            <a:r>
              <a:rPr dirty="0"/>
              <a:t>)</a:t>
            </a:r>
            <a:endParaRPr lang="it-IT" dirty="0"/>
          </a:p>
          <a:p>
            <a:pPr marL="76200" algn="l">
              <a:defRPr sz="1420">
                <a:solidFill>
                  <a:srgbClr val="182A3A"/>
                </a:solidFill>
                <a:latin typeface="Aptos"/>
              </a:defRPr>
            </a:pPr>
            <a:r>
              <a:rPr lang="en-US" sz="800" dirty="0"/>
              <a:t> </a:t>
            </a:r>
            <a:endParaRPr lang="it-IT" dirty="0"/>
          </a:p>
          <a:p>
            <a:pPr marL="228600" indent="-152400" algn="l">
              <a:buChar char="•"/>
              <a:defRPr sz="1420">
                <a:solidFill>
                  <a:srgbClr val="182A3A"/>
                </a:solidFill>
                <a:latin typeface="Aptos"/>
              </a:defRPr>
            </a:pPr>
            <a:r>
              <a:rPr dirty="0"/>
              <a:t>Routing: target shard + </a:t>
            </a:r>
            <a:r>
              <a:rPr dirty="0" err="1"/>
              <a:t>inoltro</a:t>
            </a:r>
            <a:endParaRPr dirty="0"/>
          </a:p>
        </p:txBody>
      </p:sp>
      <p:sp>
        <p:nvSpPr>
          <p:cNvPr id="12" name="Shape 8"/>
          <p:cNvSpPr/>
          <p:nvPr/>
        </p:nvSpPr>
        <p:spPr>
          <a:xfrm>
            <a:off x="4315968" y="141732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756148" y="1737360"/>
            <a:ext cx="731520" cy="73152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028" y="19202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15968" y="2606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2100" b="1">
                <a:solidFill>
                  <a:srgbClr val="1C2D3E"/>
                </a:solidFill>
                <a:latin typeface="Georgia"/>
              </a:defRPr>
            </a:pPr>
            <a:r>
              <a:rPr lang="en-US" sz="2100" b="1" dirty="0">
                <a:solidFill>
                  <a:srgbClr val="1C2D3E"/>
                </a:solidFill>
                <a:latin typeface="Georgia" pitchFamily="34" charset="0"/>
                <a:ea typeface="Cambria" pitchFamily="34" charset="-122"/>
                <a:cs typeface="Cambria" pitchFamily="34" charset="-120"/>
              </a:rPr>
              <a:t>Coordinator</a:t>
            </a:r>
            <a:endParaRPr lang="en-US" sz="1800" dirty="0"/>
          </a:p>
        </p:txBody>
      </p:sp>
      <p:sp>
        <p:nvSpPr>
          <p:cNvPr id="24" name="Rounded Rectangle 23"/>
          <p:cNvSpPr/>
          <p:nvPr/>
        </p:nvSpPr>
        <p:spPr>
          <a:xfrm>
            <a:off x="4480560" y="3063240"/>
            <a:ext cx="3282696" cy="2459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11"/>
          <p:cNvSpPr/>
          <p:nvPr/>
        </p:nvSpPr>
        <p:spPr>
          <a:xfrm>
            <a:off x="4617720" y="3136392"/>
            <a:ext cx="3008376" cy="2441448"/>
          </a:xfrm>
          <a:prstGeom prst="rect">
            <a:avLst/>
          </a:prstGeom>
          <a:noFill/>
          <a:ln>
            <a:noFill/>
          </a:ln>
        </p:spPr>
        <p:txBody>
          <a:bodyPr wrap="square" tIns="73152" rIns="36576" bIns="27432" rtlCol="0" anchor="ctr">
            <a:normAutofit/>
          </a:bodyPr>
          <a:lstStyle/>
          <a:p>
            <a:pPr marL="228600" indent="-152400" algn="l">
              <a:buChar char="•"/>
              <a:defRPr sz="1420">
                <a:solidFill>
                  <a:srgbClr val="182A3A"/>
                </a:solidFill>
                <a:latin typeface="Aptos"/>
              </a:defRPr>
            </a:pPr>
            <a:r>
              <a:rPr dirty="0"/>
              <a:t>START_REBALANCE dal Router</a:t>
            </a:r>
            <a:endParaRPr lang="it-IT" dirty="0"/>
          </a:p>
          <a:p>
            <a:pPr marL="76200" algn="l">
              <a:defRPr sz="1420">
                <a:solidFill>
                  <a:srgbClr val="182A3A"/>
                </a:solidFill>
                <a:latin typeface="Aptos"/>
              </a:defRPr>
            </a:pPr>
            <a:r>
              <a:rPr lang="en-US" sz="800" dirty="0"/>
              <a:t> </a:t>
            </a:r>
            <a:endParaRPr lang="en-US" sz="1200" dirty="0"/>
          </a:p>
          <a:p>
            <a:pPr marL="228600" indent="-152400" algn="l">
              <a:buChar char="•"/>
              <a:defRPr sz="1420">
                <a:solidFill>
                  <a:srgbClr val="182A3A"/>
                </a:solidFill>
                <a:latin typeface="Aptos"/>
              </a:defRPr>
            </a:pPr>
            <a:r>
              <a:rPr dirty="0"/>
              <a:t>Prepare: </a:t>
            </a:r>
            <a:r>
              <a:rPr dirty="0" err="1"/>
              <a:t>copia</a:t>
            </a:r>
            <a:r>
              <a:rPr dirty="0"/>
              <a:t> (value, version)</a:t>
            </a:r>
            <a:endParaRPr lang="it-IT" dirty="0"/>
          </a:p>
          <a:p>
            <a:pPr marL="76200" algn="l">
              <a:defRPr sz="1420">
                <a:solidFill>
                  <a:srgbClr val="182A3A"/>
                </a:solidFill>
                <a:latin typeface="Aptos"/>
              </a:defRPr>
            </a:pPr>
            <a:r>
              <a:rPr lang="en-US" sz="800" dirty="0"/>
              <a:t> </a:t>
            </a:r>
            <a:endParaRPr dirty="0"/>
          </a:p>
          <a:p>
            <a:pPr marL="228600" indent="-152400" algn="l">
              <a:buChar char="•"/>
              <a:defRPr sz="1420">
                <a:solidFill>
                  <a:srgbClr val="182A3A"/>
                </a:solidFill>
                <a:latin typeface="Aptos"/>
              </a:defRPr>
            </a:pPr>
            <a:r>
              <a:rPr dirty="0"/>
              <a:t>Commit: ACK_REBALANCE_END</a:t>
            </a:r>
            <a:endParaRPr lang="it-IT" dirty="0"/>
          </a:p>
          <a:p>
            <a:pPr marL="76200" algn="l">
              <a:defRPr sz="1420">
                <a:solidFill>
                  <a:srgbClr val="182A3A"/>
                </a:solidFill>
                <a:latin typeface="Aptos"/>
              </a:defRPr>
            </a:pPr>
            <a:r>
              <a:rPr lang="en-US" sz="800" dirty="0"/>
              <a:t> </a:t>
            </a:r>
            <a:endParaRPr dirty="0"/>
          </a:p>
          <a:p>
            <a:pPr marL="228600" indent="-152400" algn="l">
              <a:buChar char="•"/>
              <a:defRPr sz="1420">
                <a:solidFill>
                  <a:srgbClr val="182A3A"/>
                </a:solidFill>
                <a:latin typeface="Aptos"/>
              </a:defRPr>
            </a:pPr>
            <a:r>
              <a:rPr dirty="0"/>
              <a:t>Cleanup: </a:t>
            </a:r>
            <a:r>
              <a:rPr dirty="0" err="1"/>
              <a:t>rimozione</a:t>
            </a:r>
            <a:r>
              <a:rPr dirty="0"/>
              <a:t> </a:t>
            </a:r>
            <a:r>
              <a:rPr dirty="0" err="1"/>
              <a:t>vecchie</a:t>
            </a:r>
            <a:r>
              <a:rPr dirty="0"/>
              <a:t> </a:t>
            </a:r>
            <a:r>
              <a:rPr dirty="0" err="1"/>
              <a:t>copie</a:t>
            </a:r>
            <a:endParaRPr dirty="0"/>
          </a:p>
        </p:txBody>
      </p:sp>
      <p:sp>
        <p:nvSpPr>
          <p:cNvPr id="17" name="Shape 12"/>
          <p:cNvSpPr/>
          <p:nvPr/>
        </p:nvSpPr>
        <p:spPr>
          <a:xfrm>
            <a:off x="8129016" y="141732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9569196" y="173736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2076" y="19202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29016" y="2606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2100" b="1">
                <a:solidFill>
                  <a:srgbClr val="1C2D3E"/>
                </a:solidFill>
                <a:latin typeface="Georgia"/>
              </a:defRPr>
            </a:pPr>
            <a:r>
              <a:rPr lang="en-US" sz="2100" b="1" dirty="0">
                <a:solidFill>
                  <a:srgbClr val="1C2D3E"/>
                </a:solidFill>
                <a:latin typeface="Georgia" pitchFamily="34" charset="0"/>
                <a:ea typeface="Cambria" pitchFamily="34" charset="-122"/>
                <a:cs typeface="Cambria" pitchFamily="34" charset="-120"/>
              </a:rPr>
              <a:t>ShardNode</a:t>
            </a:r>
            <a:endParaRPr lang="en-US" sz="1800" dirty="0"/>
          </a:p>
        </p:txBody>
      </p:sp>
      <p:sp>
        <p:nvSpPr>
          <p:cNvPr id="25" name="Rounded Rectangle 24"/>
          <p:cNvSpPr/>
          <p:nvPr/>
        </p:nvSpPr>
        <p:spPr>
          <a:xfrm>
            <a:off x="8293608" y="3063240"/>
            <a:ext cx="3282696" cy="24597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 15"/>
          <p:cNvSpPr/>
          <p:nvPr/>
        </p:nvSpPr>
        <p:spPr>
          <a:xfrm>
            <a:off x="8430768" y="3136392"/>
            <a:ext cx="3008376" cy="2441448"/>
          </a:xfrm>
          <a:prstGeom prst="rect">
            <a:avLst/>
          </a:prstGeom>
          <a:noFill/>
          <a:ln>
            <a:noFill/>
          </a:ln>
        </p:spPr>
        <p:txBody>
          <a:bodyPr wrap="square" tIns="73152" rIns="36576" bIns="27432" rtlCol="0" anchor="ctr">
            <a:normAutofit/>
          </a:bodyPr>
          <a:lstStyle/>
          <a:p>
            <a:pPr marL="228600" indent="-152400" algn="l">
              <a:buChar char="•"/>
              <a:defRPr sz="1390">
                <a:solidFill>
                  <a:srgbClr val="182A3A"/>
                </a:solidFill>
                <a:latin typeface="Aptos"/>
              </a:defRPr>
            </a:pPr>
            <a:r>
              <a:rPr dirty="0"/>
              <a:t>Storage RAM </a:t>
            </a:r>
            <a:r>
              <a:rPr dirty="0" err="1"/>
              <a:t>versionato</a:t>
            </a:r>
            <a:endParaRPr lang="it-IT" dirty="0"/>
          </a:p>
          <a:p>
            <a:pPr marL="76200" algn="l">
              <a:defRPr sz="1390">
                <a:solidFill>
                  <a:srgbClr val="182A3A"/>
                </a:solidFill>
                <a:latin typeface="Aptos"/>
              </a:defRPr>
            </a:pPr>
            <a:r>
              <a:rPr lang="en-US" sz="800" dirty="0"/>
              <a:t> </a:t>
            </a:r>
            <a:endParaRPr lang="en-US" sz="1200" dirty="0"/>
          </a:p>
          <a:p>
            <a:pPr marL="228600" indent="-152400" algn="l">
              <a:buChar char="•"/>
              <a:defRPr sz="1390">
                <a:solidFill>
                  <a:srgbClr val="182A3A"/>
                </a:solidFill>
                <a:latin typeface="Aptos"/>
              </a:defRPr>
            </a:pPr>
            <a:r>
              <a:rPr dirty="0"/>
              <a:t>SHARD_SET se version &gt; </a:t>
            </a:r>
            <a:r>
              <a:rPr dirty="0" err="1"/>
              <a:t>esistente</a:t>
            </a:r>
            <a:endParaRPr lang="it-IT" dirty="0"/>
          </a:p>
          <a:p>
            <a:pPr marL="76200" algn="l">
              <a:defRPr sz="1390">
                <a:solidFill>
                  <a:srgbClr val="182A3A"/>
                </a:solidFill>
                <a:latin typeface="Aptos"/>
              </a:defRPr>
            </a:pPr>
            <a:r>
              <a:rPr lang="en-US" sz="800" dirty="0"/>
              <a:t> </a:t>
            </a:r>
            <a:endParaRPr dirty="0"/>
          </a:p>
          <a:p>
            <a:pPr marL="228600" indent="-152400" algn="l">
              <a:buChar char="•"/>
              <a:defRPr sz="1390">
                <a:solidFill>
                  <a:srgbClr val="182A3A"/>
                </a:solidFill>
                <a:latin typeface="Aptos"/>
              </a:defRPr>
            </a:pPr>
            <a:r>
              <a:rPr dirty="0" err="1"/>
              <a:t>key_lock</a:t>
            </a:r>
            <a:r>
              <a:rPr dirty="0"/>
              <a:t> per </a:t>
            </a:r>
            <a:r>
              <a:rPr dirty="0" err="1"/>
              <a:t>chiave</a:t>
            </a:r>
            <a:endParaRPr lang="it-IT" dirty="0"/>
          </a:p>
          <a:p>
            <a:pPr marL="76200" algn="l">
              <a:defRPr sz="1390">
                <a:solidFill>
                  <a:srgbClr val="182A3A"/>
                </a:solidFill>
                <a:latin typeface="Aptos"/>
              </a:defRPr>
            </a:pPr>
            <a:r>
              <a:rPr lang="en-US" sz="800" dirty="0"/>
              <a:t> </a:t>
            </a:r>
            <a:endParaRPr lang="it-IT" dirty="0"/>
          </a:p>
          <a:p>
            <a:pPr marL="228600" indent="-152400" algn="l">
              <a:buChar char="•"/>
              <a:defRPr sz="1390">
                <a:solidFill>
                  <a:srgbClr val="182A3A"/>
                </a:solidFill>
                <a:latin typeface="Aptos"/>
              </a:defRPr>
            </a:pPr>
            <a:r>
              <a:rPr lang="it-IT" dirty="0"/>
              <a:t>SHARD_GET_ALL / </a:t>
            </a:r>
            <a:r>
              <a:rPr lang="it-IT" dirty="0" err="1"/>
              <a:t>cleanup</a:t>
            </a:r>
            <a:r>
              <a:rPr lang="it-IT" dirty="0"/>
              <a:t> </a:t>
            </a:r>
            <a:r>
              <a:rPr lang="it-IT" dirty="0" err="1"/>
              <a:t>tombstone</a:t>
            </a:r>
            <a:endParaRPr lang="it-IT" dirty="0"/>
          </a:p>
        </p:txBody>
      </p:sp>
      <p:sp>
        <p:nvSpPr>
          <p:cNvPr id="22" name="Text 16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840" b="1">
                <a:solidFill>
                  <a:srgbClr val="506981"/>
                </a:solidFill>
                <a:latin typeface="Aptos"/>
              </a:defRPr>
            </a:pPr>
            <a:r>
              <a:t>Router stateful per idempotenza, topologia e versioni; ShardNode semplici nodi dati versionati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Implementazione — Componenti del Sistema (VECCHIA)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41732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943100" y="1737360"/>
            <a:ext cx="731520" cy="73152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980" y="19202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2606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22960" y="3154680"/>
            <a:ext cx="2971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pubblico per i client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table + client_lock (idempotenza)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 globale (_version_lock)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Instradamento verso lo shard corretto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15968" y="141732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756148" y="1737360"/>
            <a:ext cx="731520" cy="73152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028" y="19202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15968" y="2606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636008" y="3154680"/>
            <a:ext cx="2971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START_REBALANCE dal Router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Prepare: copia i dati sui nuovi shard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Commit: ACK_REBALANCE_END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Cleanup: rimozione fisica dei vecchi dati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129016" y="141732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9569196" y="173736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2076" y="19202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29016" y="2606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ShardNode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8449056" y="3154680"/>
            <a:ext cx="2971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"stupido" in RAM, ignora client e topologia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Accetta SHARD_SET solo se version &gt; esistente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key_lock a grana fine per chiave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SHARD_GET_ALL / SHARD_CLEANUP_TOMBSTONES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0292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Router è stateful per idempotenza e topologia; gli ShardNode restano privi di stato applicativo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B7F86"/>
          </a:solidFill>
          <a:ln w="12700">
            <a:solidFill>
              <a:srgbClr val="0B7F8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694944" y="694944"/>
            <a:ext cx="182880" cy="16459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685800" y="557784"/>
            <a:ext cx="201168" cy="228600"/>
          </a:xfrm>
          <a:prstGeom prst="arc">
            <a:avLst/>
          </a:prstGeom>
          <a:noFill/>
          <a:ln w="279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694944" y="667512"/>
            <a:ext cx="0" cy="6400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77824" y="667512"/>
            <a:ext cx="0" cy="64008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243584" y="45720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Implementazione — Locking e </a:t>
            </a:r>
            <a:r>
              <a:rPr lang="en-US" sz="2800" b="1" dirty="0" err="1">
                <a:solidFill>
                  <a:srgbClr val="17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Concorrenza</a:t>
            </a:r>
            <a:r>
              <a:rPr lang="en-US" sz="2800" b="1" dirty="0">
                <a:solidFill>
                  <a:srgbClr val="17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(NEW)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329416" y="594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" y="1197864"/>
            <a:ext cx="11155680" cy="0"/>
          </a:xfrm>
          <a:prstGeom prst="line">
            <a:avLst/>
          </a:prstGeom>
          <a:noFill/>
          <a:ln w="12700">
            <a:solidFill>
              <a:srgbClr val="D6E5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12064" y="1417320"/>
            <a:ext cx="1120140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5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512064" y="1417320"/>
            <a:ext cx="11201400" cy="502920"/>
          </a:xfrm>
          <a:prstGeom prst="rect">
            <a:avLst/>
          </a:prstGeom>
          <a:solidFill>
            <a:srgbClr val="0B5870"/>
          </a:solidFill>
          <a:ln w="10160">
            <a:solidFill>
              <a:srgbClr val="0B58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512064" y="1920240"/>
            <a:ext cx="11201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5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12064" y="2487168"/>
            <a:ext cx="11201400" cy="566928"/>
          </a:xfrm>
          <a:prstGeom prst="rect">
            <a:avLst/>
          </a:prstGeom>
          <a:solidFill>
            <a:srgbClr val="FAFCFD"/>
          </a:solidFill>
          <a:ln w="12700">
            <a:solidFill>
              <a:srgbClr val="D6E5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512064" y="3054096"/>
            <a:ext cx="11201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5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12064" y="3621024"/>
            <a:ext cx="11201400" cy="566928"/>
          </a:xfrm>
          <a:prstGeom prst="rect">
            <a:avLst/>
          </a:prstGeom>
          <a:solidFill>
            <a:srgbClr val="FAFCFD"/>
          </a:solidFill>
          <a:ln w="12700">
            <a:solidFill>
              <a:srgbClr val="D6E5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512064" y="4187952"/>
            <a:ext cx="112014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5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2660904" y="1417320"/>
            <a:ext cx="0" cy="3337560"/>
          </a:xfrm>
          <a:prstGeom prst="line">
            <a:avLst/>
          </a:prstGeom>
          <a:noFill/>
          <a:ln w="10160">
            <a:solidFill>
              <a:srgbClr val="D6E5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35424" y="1417320"/>
            <a:ext cx="0" cy="3337560"/>
          </a:xfrm>
          <a:prstGeom prst="line">
            <a:avLst/>
          </a:prstGeom>
          <a:noFill/>
          <a:ln w="10160">
            <a:solidFill>
              <a:srgbClr val="D6E5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512064" y="1920240"/>
            <a:ext cx="11201400" cy="0"/>
          </a:xfrm>
          <a:prstGeom prst="line">
            <a:avLst/>
          </a:prstGeom>
          <a:noFill/>
          <a:ln w="10160">
            <a:solidFill>
              <a:srgbClr val="D6E5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512064" y="2487168"/>
            <a:ext cx="11201400" cy="0"/>
          </a:xfrm>
          <a:prstGeom prst="line">
            <a:avLst/>
          </a:prstGeom>
          <a:noFill/>
          <a:ln w="10160">
            <a:solidFill>
              <a:srgbClr val="D6E5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512064" y="3054096"/>
            <a:ext cx="11201400" cy="0"/>
          </a:xfrm>
          <a:prstGeom prst="line">
            <a:avLst/>
          </a:prstGeom>
          <a:noFill/>
          <a:ln w="10160">
            <a:solidFill>
              <a:srgbClr val="D6E5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512064" y="3621024"/>
            <a:ext cx="11201400" cy="0"/>
          </a:xfrm>
          <a:prstGeom prst="line">
            <a:avLst/>
          </a:prstGeom>
          <a:noFill/>
          <a:ln w="10160">
            <a:solidFill>
              <a:srgbClr val="D6E5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512064" y="4187952"/>
            <a:ext cx="11201400" cy="0"/>
          </a:xfrm>
          <a:prstGeom prst="line">
            <a:avLst/>
          </a:prstGeom>
          <a:noFill/>
          <a:ln w="10160">
            <a:solidFill>
              <a:srgbClr val="D6E5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21792" y="1563624"/>
            <a:ext cx="1929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2770632" y="156362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</a:t>
            </a:r>
            <a:endParaRPr lang="en-US" sz="1330" dirty="0"/>
          </a:p>
        </p:txBody>
      </p:sp>
      <p:sp>
        <p:nvSpPr>
          <p:cNvPr id="26" name="Text 24"/>
          <p:cNvSpPr/>
          <p:nvPr/>
        </p:nvSpPr>
        <p:spPr>
          <a:xfrm>
            <a:off x="4645152" y="1563624"/>
            <a:ext cx="6958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Scopo</a:t>
            </a:r>
            <a:endParaRPr lang="en-US" sz="1330" dirty="0"/>
          </a:p>
        </p:txBody>
      </p:sp>
      <p:sp>
        <p:nvSpPr>
          <p:cNvPr id="27" name="Text 25"/>
          <p:cNvSpPr/>
          <p:nvPr/>
        </p:nvSpPr>
        <p:spPr>
          <a:xfrm>
            <a:off x="621792" y="2066544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client_lock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2770632" y="2066544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4645152" y="2057400"/>
            <a:ext cx="695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Serializza richieste dello stesso client: lookup cache, I/O e salvataggio risposta</a:t>
            </a:r>
            <a:endParaRPr lang="en-US" sz="1230" dirty="0"/>
          </a:p>
        </p:txBody>
      </p:sp>
      <p:sp>
        <p:nvSpPr>
          <p:cNvPr id="30" name="Text 28"/>
          <p:cNvSpPr/>
          <p:nvPr/>
        </p:nvSpPr>
        <p:spPr>
          <a:xfrm>
            <a:off x="621792" y="2633472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_version_lock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2770632" y="263347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4645152" y="2624328"/>
            <a:ext cx="695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Incrementa in modo atomico il Sequence Number globale; nessun I/O nel lock</a:t>
            </a:r>
            <a:endParaRPr lang="en-US" sz="1230" dirty="0"/>
          </a:p>
        </p:txBody>
      </p:sp>
      <p:sp>
        <p:nvSpPr>
          <p:cNvPr id="33" name="Text 31"/>
          <p:cNvSpPr/>
          <p:nvPr/>
        </p:nvSpPr>
        <p:spPr>
          <a:xfrm>
            <a:off x="621792" y="320040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_topology_lock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2770632" y="3200400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4645152" y="3191256"/>
            <a:ext cx="695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breve della topologia; I/O di rete fuori dal lock</a:t>
            </a:r>
            <a:endParaRPr lang="en-US" sz="1230" dirty="0"/>
          </a:p>
        </p:txBody>
      </p:sp>
      <p:sp>
        <p:nvSpPr>
          <p:cNvPr id="36" name="Text 34"/>
          <p:cNvSpPr/>
          <p:nvPr/>
        </p:nvSpPr>
        <p:spPr>
          <a:xfrm>
            <a:off x="621792" y="3767328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key_lock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2770632" y="3767328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ShardNode</a:t>
            </a:r>
            <a:endParaRPr lang="en-US" sz="1280" dirty="0"/>
          </a:p>
        </p:txBody>
      </p:sp>
      <p:sp>
        <p:nvSpPr>
          <p:cNvPr id="38" name="Text 36"/>
          <p:cNvSpPr/>
          <p:nvPr/>
        </p:nvSpPr>
        <p:spPr>
          <a:xfrm>
            <a:off x="4645152" y="3758184"/>
            <a:ext cx="695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 per chiave: chiavi diverse si aggiornano senza contesa</a:t>
            </a:r>
            <a:endParaRPr lang="en-US" sz="1230" dirty="0"/>
          </a:p>
        </p:txBody>
      </p:sp>
      <p:sp>
        <p:nvSpPr>
          <p:cNvPr id="39" name="Text 37"/>
          <p:cNvSpPr/>
          <p:nvPr/>
        </p:nvSpPr>
        <p:spPr>
          <a:xfrm>
            <a:off x="621792" y="4334256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structure_lock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2770632" y="433425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ShardNode</a:t>
            </a:r>
            <a:endParaRPr lang="en-US" sz="1280" dirty="0"/>
          </a:p>
        </p:txBody>
      </p:sp>
      <p:sp>
        <p:nvSpPr>
          <p:cNvPr id="41" name="Text 39"/>
          <p:cNvSpPr/>
          <p:nvPr/>
        </p:nvSpPr>
        <p:spPr>
          <a:xfrm>
            <a:off x="4645152" y="4325112"/>
            <a:ext cx="6958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726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Protegge iterazioni globali: SHARD_GET_ALL e cleanup tombstone</a:t>
            </a:r>
            <a:endParaRPr lang="en-US" sz="1230" dirty="0"/>
          </a:p>
        </p:txBody>
      </p:sp>
      <p:sp>
        <p:nvSpPr>
          <p:cNvPr id="42" name="Shape 40"/>
          <p:cNvSpPr/>
          <p:nvPr/>
        </p:nvSpPr>
        <p:spPr>
          <a:xfrm>
            <a:off x="512064" y="4828032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EF3F6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DCE5EA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3" name="Shape 41"/>
          <p:cNvSpPr/>
          <p:nvPr/>
        </p:nvSpPr>
        <p:spPr>
          <a:xfrm>
            <a:off x="713232" y="5120640"/>
            <a:ext cx="457200" cy="457200"/>
          </a:xfrm>
          <a:prstGeom prst="ellipse">
            <a:avLst/>
          </a:prstGeom>
          <a:solidFill>
            <a:srgbClr val="0B5870"/>
          </a:solidFill>
          <a:ln w="12700">
            <a:solidFill>
              <a:srgbClr val="0B58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786384" y="5202936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●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335024" y="504748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Isolamento tra client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335024" y="5413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B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Serializziamo solo lo stesso client: client diversi avanzano in parallelo verso shard differenti.</a:t>
            </a:r>
            <a:endParaRPr lang="en-US" sz="1160" dirty="0"/>
          </a:p>
        </p:txBody>
      </p:sp>
      <p:sp>
        <p:nvSpPr>
          <p:cNvPr id="47" name="Shape 45"/>
          <p:cNvSpPr/>
          <p:nvPr/>
        </p:nvSpPr>
        <p:spPr>
          <a:xfrm>
            <a:off x="6245352" y="4828032"/>
            <a:ext cx="54406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EF3F6">
                <a:alpha val="80000"/>
              </a:srgbClr>
            </a:solidFill>
            <a:prstDash val="solid"/>
          </a:ln>
          <a:effectLst>
            <a:outerShdw blurRad="25400" dist="50800" dir="2700000" algn="bl" rotWithShape="0">
              <a:srgbClr val="DCE5EA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8" name="Shape 46"/>
          <p:cNvSpPr/>
          <p:nvPr/>
        </p:nvSpPr>
        <p:spPr>
          <a:xfrm>
            <a:off x="6446520" y="5120640"/>
            <a:ext cx="457200" cy="457200"/>
          </a:xfrm>
          <a:prstGeom prst="ellipse">
            <a:avLst/>
          </a:prstGeom>
          <a:solidFill>
            <a:srgbClr val="F6A43A"/>
          </a:solidFill>
          <a:ln w="12700">
            <a:solidFill>
              <a:srgbClr val="F6A4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6464808" y="5175504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900" dirty="0"/>
          </a:p>
        </p:txBody>
      </p:sp>
      <p:sp>
        <p:nvSpPr>
          <p:cNvPr id="50" name="Text 48"/>
          <p:cNvSpPr/>
          <p:nvPr/>
        </p:nvSpPr>
        <p:spPr>
          <a:xfrm>
            <a:off x="7068312" y="504748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6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At-most-once forwarding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68312" y="54132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B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 retry con lo stesso request_id si accodano: solo il primo contatta lo ShardNode.</a:t>
            </a:r>
            <a:endParaRPr lang="en-US" sz="11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Implementazione — Locking e </a:t>
            </a:r>
            <a:r>
              <a:rPr lang="en-US" sz="2800" b="1" dirty="0" err="1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Concorrenza</a:t>
            </a: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(OLD)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284848"/>
              </p:ext>
            </p:extLst>
          </p:nvPr>
        </p:nvGraphicFramePr>
        <p:xfrm>
          <a:off x="502920" y="1371600"/>
          <a:ext cx="11201400" cy="32918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Lock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Scopo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client_lock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Router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Isola le richieste per client; garantisce atomicità di lookup + rete + salvataggio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_version_lock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Router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Incremento rapidissimo del Sequence Number globale, isolato dall'I/O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_topology_lock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Router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/>
                        <a:t>Snapshot breve della topologia; I/O di rete fuori dal lock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key_lock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ShardNode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Parallelismo a grana fine: chiavi diverse si aggiornano senza contesa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structure_lock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ShardNode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</a:rPr>
                        <a:t>Protegge le iterazioni sull'intero dizionario (GET_ALL, cleanup tombstone)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7091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704088" y="491032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020056"/>
            <a:ext cx="237744" cy="237744"/>
          </a:xfrm>
          <a:prstGeom prst="rect">
            <a:avLst/>
          </a:prstGeom>
        </p:spPr>
      </p:pic>
      <p:sp>
        <p:nvSpPr>
          <p:cNvPr id="7" name="Text 6"/>
          <p:cNvSpPr/>
          <p:nvPr/>
        </p:nvSpPr>
        <p:spPr>
          <a:xfrm>
            <a:off x="1325880" y="485546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Isolamento tra client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325880" y="5184648"/>
            <a:ext cx="44348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L'accesso al Router serializza solo lo stesso client. Client diversi procedono in parallelo verso shard differenti, senza contendersi alcun lock.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217920" y="470916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6419088" y="4910328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502005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040880" y="48554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Nessun doppio invio in rete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040880" y="5184648"/>
            <a:ext cx="44805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retry concorrenti con lo stesso request_id si accodano sul client_lock: solo il primo contatta lo ShardNode, il secondo legge la cache.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Architettura del Sistema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1737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1B2A3A"/>
            </a:solidFill>
            <a:prstDash val="solid"/>
          </a:ln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02666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7008" y="27432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3017520" y="237744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B4F6C"/>
            </a:solidFill>
            <a:prstDash val="solid"/>
          </a:ln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2112" y="3026664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84448" y="237744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3246120" y="4892040"/>
            <a:ext cx="18288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137A7F"/>
            </a:solidFill>
            <a:prstDash val="solid"/>
          </a:ln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0712" y="5244084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813048" y="4892040"/>
            <a:ext cx="1188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8229600" y="123444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1540764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796528" y="123444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ShardNode 1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8229600" y="260604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2912364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796528" y="260604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ShardNode 2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8229600" y="3977640"/>
            <a:ext cx="18745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F2A541"/>
            </a:solidFill>
            <a:prstDash val="solid"/>
          </a:ln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4283964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796528" y="397764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ShardNode 3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2377440" y="3200400"/>
            <a:ext cx="640080" cy="0"/>
          </a:xfrm>
          <a:prstGeom prst="line">
            <a:avLst/>
          </a:prstGeom>
          <a:noFill/>
          <a:ln w="2540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7"/>
          <p:cNvSpPr/>
          <p:nvPr/>
        </p:nvSpPr>
        <p:spPr>
          <a:xfrm>
            <a:off x="2377440" y="29443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pubblica</a:t>
            </a:r>
            <a:endParaRPr lang="en-US" sz="950" dirty="0"/>
          </a:p>
        </p:txBody>
      </p:sp>
      <p:sp>
        <p:nvSpPr>
          <p:cNvPr id="27" name="Shape 18"/>
          <p:cNvSpPr/>
          <p:nvPr/>
        </p:nvSpPr>
        <p:spPr>
          <a:xfrm flipV="1">
            <a:off x="5303520" y="1668781"/>
            <a:ext cx="2926080" cy="982979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5303520" y="3200400"/>
            <a:ext cx="29260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0"/>
          <p:cNvSpPr/>
          <p:nvPr/>
        </p:nvSpPr>
        <p:spPr>
          <a:xfrm>
            <a:off x="5303520" y="3749040"/>
            <a:ext cx="2926080" cy="70866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1"/>
          <p:cNvSpPr/>
          <p:nvPr/>
        </p:nvSpPr>
        <p:spPr>
          <a:xfrm>
            <a:off x="4160520" y="4023360"/>
            <a:ext cx="0" cy="868680"/>
          </a:xfrm>
          <a:prstGeom prst="line">
            <a:avLst/>
          </a:prstGeom>
          <a:noFill/>
          <a:ln w="25400">
            <a:solidFill>
              <a:srgbClr val="137A7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5074920" y="5417820"/>
            <a:ext cx="3154680" cy="0"/>
          </a:xfrm>
          <a:prstGeom prst="line">
            <a:avLst/>
          </a:prstGeom>
          <a:noFill/>
          <a:ln w="19050">
            <a:solidFill>
              <a:srgbClr val="137A7F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3"/>
          <p:cNvSpPr/>
          <p:nvPr/>
        </p:nvSpPr>
        <p:spPr>
          <a:xfrm>
            <a:off x="5074920" y="5417820"/>
            <a:ext cx="5806440" cy="0"/>
          </a:xfrm>
          <a:prstGeom prst="line">
            <a:avLst/>
          </a:prstGeom>
          <a:noFill/>
          <a:ln w="19050">
            <a:solidFill>
              <a:srgbClr val="137A7F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5"/>
          <p:cNvSpPr/>
          <p:nvPr/>
        </p:nvSpPr>
        <p:spPr>
          <a:xfrm>
            <a:off x="640080" y="6355080"/>
            <a:ext cx="320040" cy="0"/>
          </a:xfrm>
          <a:prstGeom prst="line">
            <a:avLst/>
          </a:prstGeom>
          <a:noFill/>
          <a:ln w="31750">
            <a:solidFill>
              <a:srgbClr val="0B4F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6"/>
          <p:cNvSpPr/>
          <p:nvPr/>
        </p:nvSpPr>
        <p:spPr>
          <a:xfrm>
            <a:off x="1051560" y="6217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Router (comandi)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3931920" y="6355080"/>
            <a:ext cx="32004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28"/>
          <p:cNvSpPr/>
          <p:nvPr/>
        </p:nvSpPr>
        <p:spPr>
          <a:xfrm>
            <a:off x="4343400" y="6217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→ ShardNode (data plane)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355080"/>
            <a:ext cx="320040" cy="0"/>
          </a:xfrm>
          <a:prstGeom prst="line">
            <a:avLst/>
          </a:prstGeom>
          <a:noFill/>
          <a:ln w="31750">
            <a:solidFill>
              <a:srgbClr val="137A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0"/>
          <p:cNvSpPr/>
          <p:nvPr/>
        </p:nvSpPr>
        <p:spPr>
          <a:xfrm>
            <a:off x="7909560" y="6217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↔ Coordinator / migrazione (control plane)</a:t>
            </a:r>
            <a:endParaRPr lang="en-US" sz="1000" dirty="0"/>
          </a:p>
        </p:txBody>
      </p:sp>
      <p:sp>
        <p:nvSpPr>
          <p:cNvPr id="40" name="Shape 23">
            <a:extLst>
              <a:ext uri="{FF2B5EF4-FFF2-40B4-BE49-F238E27FC236}">
                <a16:creationId xmlns:a16="http://schemas.microsoft.com/office/drawing/2014/main" id="{345FADC1-8019-09A3-ED6C-732E463CA4FF}"/>
              </a:ext>
            </a:extLst>
          </p:cNvPr>
          <p:cNvSpPr/>
          <p:nvPr/>
        </p:nvSpPr>
        <p:spPr>
          <a:xfrm flipV="1">
            <a:off x="10881361" y="1650493"/>
            <a:ext cx="0" cy="3767294"/>
          </a:xfrm>
          <a:prstGeom prst="line">
            <a:avLst/>
          </a:prstGeom>
          <a:noFill/>
          <a:ln w="19050">
            <a:solidFill>
              <a:srgbClr val="137A7F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2F02D11F-BBB5-B4C6-03B0-3D46C5FE8790}"/>
              </a:ext>
            </a:extLst>
          </p:cNvPr>
          <p:cNvSpPr/>
          <p:nvPr/>
        </p:nvSpPr>
        <p:spPr>
          <a:xfrm>
            <a:off x="10104120" y="4457700"/>
            <a:ext cx="777240" cy="0"/>
          </a:xfrm>
          <a:prstGeom prst="line">
            <a:avLst/>
          </a:prstGeom>
          <a:noFill/>
          <a:ln w="19050">
            <a:solidFill>
              <a:srgbClr val="137A7F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23">
            <a:extLst>
              <a:ext uri="{FF2B5EF4-FFF2-40B4-BE49-F238E27FC236}">
                <a16:creationId xmlns:a16="http://schemas.microsoft.com/office/drawing/2014/main" id="{73187E27-C82B-AA43-2CDF-03D047DDD497}"/>
              </a:ext>
            </a:extLst>
          </p:cNvPr>
          <p:cNvSpPr/>
          <p:nvPr/>
        </p:nvSpPr>
        <p:spPr>
          <a:xfrm>
            <a:off x="10104120" y="3172968"/>
            <a:ext cx="777240" cy="0"/>
          </a:xfrm>
          <a:prstGeom prst="line">
            <a:avLst/>
          </a:prstGeom>
          <a:noFill/>
          <a:ln w="19050">
            <a:solidFill>
              <a:srgbClr val="137A7F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E090CEF6-E185-83C2-ACB7-CD7ADA8D39FA}"/>
              </a:ext>
            </a:extLst>
          </p:cNvPr>
          <p:cNvSpPr/>
          <p:nvPr/>
        </p:nvSpPr>
        <p:spPr>
          <a:xfrm>
            <a:off x="10104120" y="1647953"/>
            <a:ext cx="777240" cy="0"/>
          </a:xfrm>
          <a:prstGeom prst="line">
            <a:avLst/>
          </a:prstGeom>
          <a:noFill/>
          <a:ln w="19050">
            <a:solidFill>
              <a:srgbClr val="137A7F"/>
            </a:solidFill>
            <a:prstDash val="sysDot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Scelte Tecniche e Metodologiche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417320"/>
            <a:ext cx="5486400" cy="1517904"/>
          </a:xfrm>
          <a:prstGeom prst="roundRect">
            <a:avLst>
              <a:gd name="adj" fmla="val 4819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04088" y="161848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172821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5636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Sliding window invece di TTL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1892808"/>
            <a:ext cx="4480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di eviction O(1) inline, nessun thread di background, contratto deterministico verso il client.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17920" y="1417320"/>
            <a:ext cx="5486400" cy="1517904"/>
          </a:xfrm>
          <a:prstGeom prst="roundRect">
            <a:avLst>
              <a:gd name="adj" fmla="val 4819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419088" y="161848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172821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0880" y="15636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 modulo 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040880" y="1892808"/>
            <a:ext cx="4480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hash(key) % N invece di consistent hashing: semplicità accettata a scapito del volume di dati da rimescolare ad ogni rebalance.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" y="3099816"/>
            <a:ext cx="5486400" cy="1517904"/>
          </a:xfrm>
          <a:prstGeom prst="roundRect">
            <a:avLst>
              <a:gd name="adj" fmla="val 4819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04088" y="3300984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3410712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3246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connessione TCP per comando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325880" y="3575304"/>
            <a:ext cx="4480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send_line() e LineTCPServer sono riusati da Router, Coordinator e ShardNode: semplice, ma costoso in throughput.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17920" y="3099816"/>
            <a:ext cx="5486400" cy="1517904"/>
          </a:xfrm>
          <a:prstGeom prst="roundRect">
            <a:avLst>
              <a:gd name="adj" fmla="val 4819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6419088" y="3300984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341071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40880" y="324612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Number centralizzato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040880" y="3575304"/>
            <a:ext cx="4480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 globali generate dal Router invece di clock distribuiti (HLC/vector clock): semplicità concettuale, collo di bottiglia accettato.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502920" y="4782312"/>
            <a:ext cx="5486400" cy="1517904"/>
          </a:xfrm>
          <a:prstGeom prst="roundRect">
            <a:avLst>
              <a:gd name="adj" fmla="val 4819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704088" y="4983480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5093208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325880" y="49286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di risposta uniforme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1325880" y="5257800"/>
            <a:ext cx="4480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GET/GETV seguono il formato "&lt;value&gt; &lt;version&gt;" del contratto di rebalancing, non "OK version=&lt;n&gt;" dell'Homework 3 originale.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6217920" y="4782312"/>
            <a:ext cx="5486400" cy="1517904"/>
          </a:xfrm>
          <a:prstGeom prst="roundRect">
            <a:avLst>
              <a:gd name="adj" fmla="val 4819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5"/>
          <p:cNvSpPr/>
          <p:nvPr/>
        </p:nvSpPr>
        <p:spPr>
          <a:xfrm>
            <a:off x="6419088" y="4983480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8816" y="5093208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040880" y="49286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isolati dalla rete</a:t>
            </a:r>
            <a:endParaRPr lang="en-US" sz="1500" dirty="0"/>
          </a:p>
        </p:txBody>
      </p:sp>
      <p:sp>
        <p:nvSpPr>
          <p:cNvPr id="36" name="Text 27"/>
          <p:cNvSpPr/>
          <p:nvPr/>
        </p:nvSpPr>
        <p:spPr>
          <a:xfrm>
            <a:off x="7040880" y="5257800"/>
            <a:ext cx="4480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MockedRouter intercetta i metodi di I/O per unit test deterministici e rapidi, separati dai test di integrazione su socket reali.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Esperimenti e Test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02920" y="148132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40080" y="235915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 (acceptance_test.py)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71800" y="13716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971800" y="148132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3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108960" y="235915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ShardNode reali nei test di integrazione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40680" y="13716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EA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440680" y="148132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5577840" y="2359152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eseguiti in sequenza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55280" y="1371600"/>
            <a:ext cx="3749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8156448" y="157276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1682496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778240" y="15179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MockedRouter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8778240" y="184708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Sottoclasse che intercetta le chiamate di rete verso gli shard, per test rapidi, deterministici e indipendenti dai socket.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02920" y="2971800"/>
            <a:ext cx="544068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704088" y="317296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282696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311810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 — acceptance_test.py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25880" y="3447288"/>
            <a:ext cx="443484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Retry SET_REQ / CAS_REQ senza incrementare la versione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Conflitto di payload sullo stesso request_id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DELETE_REQ e retry idempotente del tombstone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Due client con lo stesso seq non si confondono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Eviction: un request_id troppo vecchio non viene rieseguito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Comandi malformati e request_id non validi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217920" y="2971800"/>
            <a:ext cx="54864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6419088" y="317296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3282696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40880" y="311810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di integrazione — integration_test.py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7040880" y="3447288"/>
            <a:ext cx="4480560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Bootstrap della topologia (2 shard) e scritture idempotenti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CAS_REQ con conflitto e retry cached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Rebalance a caldo verso 3 shard: CAS bloccate, GET in fallback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Tombstone: DELETE_REQ, GET/KEYS coerenti, cleanup asincrono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Idempotenza verificata a cavallo di un secondo rebalance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Limiti della Versione Corrente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508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1E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04088" y="170992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18196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65506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Nessuna persistenza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1984248"/>
            <a:ext cx="26060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e ShardNode operano in RAM. Un riavvio azzera dati e request table; le garanzie non sopravvivono a un crash completo.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97680" y="1508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1E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498848" y="170992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" y="181965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20640" y="165506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 come SPOF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120640" y="1984248"/>
            <a:ext cx="26060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sia per la raggiungibilità sia per il collo di bottiglia del _version_lock globale.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92440" y="15087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1E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8293608" y="170992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181965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15400" y="165506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Overhead TCP per comando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915400" y="1984248"/>
            <a:ext cx="26060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send_line() apre e chiude un socket per ogni comando interno Router ↔ ShardNode, consumando porte effimere.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02920" y="36576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1E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704088" y="385876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3968496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5880" y="380390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 modulo N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1325880" y="4133088"/>
            <a:ext cx="26060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Aggiungere o rimuovere un nodo rimescola una frazione consistente di tutte le chiavi, non solo quelle necessarie.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297680" y="36576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BF1EF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1"/>
          <p:cNvSpPr/>
          <p:nvPr/>
        </p:nvSpPr>
        <p:spPr>
          <a:xfrm>
            <a:off x="4498848" y="385876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8576" y="3968496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20640" y="380390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Nessuna autenticazione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120640" y="4133088"/>
            <a:ext cx="26060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Router si fida ciecamente del client_id dichiarato; lo spoofing dell'identità non è mitigato.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B4F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Evoluzioni Possibili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1338560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170432"/>
            <a:ext cx="11183112" cy="0"/>
          </a:xfrm>
          <a:prstGeom prst="line">
            <a:avLst/>
          </a:prstGeom>
          <a:noFill/>
          <a:ln w="12700">
            <a:solidFill>
              <a:srgbClr val="D7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50876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04088" y="170992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18196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6550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Hashing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1984248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hash ring al posto del modulo N ridurrebbe drasticamente i dati da migrare quando si aggiunge o rimuove un nodo.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17920" y="150876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419088" y="170992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1819656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0880" y="165506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Versionamento distribuito (HLC)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040880" y="1984248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ibridi logico-fisici o vector clock generati dai nodi, per eliminare il collo di bottiglia del _global_version centralizzato.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" y="39319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04088" y="413308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424281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25880" y="40782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Connection pooling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325880" y="4407408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pool di connessioni persistenti (gRPC, HTTP/2, TCP riutilizzabili) azzererebbe la latenza di handshake verso gli ShardNode.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17920" y="393192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EAF4F8"/>
          </a:solidFill>
          <a:ln/>
          <a:effectLst>
            <a:outerShdw blurRad="88900" dist="38100" dir="2700000" algn="bl" rotWithShape="0">
              <a:srgbClr val="1B2A3A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6419088" y="4133088"/>
            <a:ext cx="457200" cy="457200"/>
          </a:xfrm>
          <a:prstGeom prst="ellipse">
            <a:avLst/>
          </a:prstGeom>
          <a:solidFill>
            <a:srgbClr val="137A7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4242816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40880" y="407822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disponibilità del Router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7040880" y="4407408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protocollo di consenso come Raft o Paxos per replicare request_table e topologia su più Router.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effetto applicato al più una volta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057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anche quando i dati si spostano tra shard.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0632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329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375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Idempotenza end-to-end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427024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client fino allo ShardNode, ogni retry è sicuro.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80560" y="30632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329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33756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Migrazione sicura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754880" y="427024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Commit e Watchdog proteggono ogni rebalance.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0" y="30632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1329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33756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0" y="3840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Parallelismo a grana fine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503920" y="427024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isolati per client e per chiave, nessuna contesa inutile.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73152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 dell'attenzione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6F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</a:t>
            </a:r>
            <a:r>
              <a:rPr lang="en-US" sz="1300" dirty="0">
                <a:solidFill>
                  <a:srgbClr val="6F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2665</Words>
  <Application>Microsoft Macintosh PowerPoint</Application>
  <PresentationFormat>Widescreen</PresentationFormat>
  <Paragraphs>333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Cambria</vt:lpstr>
      <vt:lpstr>Courier New</vt:lpstr>
      <vt:lpstr>Georgia</vt:lpstr>
      <vt:lpstr>Segoe UI Symbol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KV Store Distribuito: Router, Idempotenza e Rebalancing</dc:title>
  <dc:subject>PptxGenJS Presentation</dc:subject>
  <dc:creator>Nahele</dc:creator>
  <cp:lastModifiedBy>Addorisio, Gianluca Adriano Junior</cp:lastModifiedBy>
  <cp:revision>4</cp:revision>
  <dcterms:created xsi:type="dcterms:W3CDTF">2026-07-06T09:56:31Z</dcterms:created>
  <dcterms:modified xsi:type="dcterms:W3CDTF">2026-07-07T10:30:21Z</dcterms:modified>
</cp:coreProperties>
</file>